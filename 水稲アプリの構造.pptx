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8" r:id="rId2"/>
    <p:sldId id="259" r:id="rId3"/>
    <p:sldId id="260" r:id="rId4"/>
  </p:sldIdLst>
  <p:sldSz cx="6858000" cy="9144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60"/>
  </p:normalViewPr>
  <p:slideViewPr>
    <p:cSldViewPr snapToGrid="0">
      <p:cViewPr>
        <p:scale>
          <a:sx n="94" d="100"/>
          <a:sy n="94" d="100"/>
        </p:scale>
        <p:origin x="1747" y="-1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496484"/>
            <a:ext cx="5829300" cy="3183467"/>
          </a:xfrm>
        </p:spPr>
        <p:txBody>
          <a:bodyPr anchor="b"/>
          <a:lstStyle>
            <a:lvl1pPr algn="ctr">
              <a:defRPr sz="4500"/>
            </a:lvl1pPr>
          </a:lstStyle>
          <a:p>
            <a:r>
              <a:rPr lang="ja-JP" altLang="en-US"/>
              <a:t>マスター タイトルの書式設定</a:t>
            </a:r>
            <a:endParaRPr lang="en-US" dirty="0"/>
          </a:p>
        </p:txBody>
      </p:sp>
      <p:sp>
        <p:nvSpPr>
          <p:cNvPr id="3" name="Subtitle 2"/>
          <p:cNvSpPr>
            <a:spLocks noGrp="1"/>
          </p:cNvSpPr>
          <p:nvPr>
            <p:ph type="subTitle" idx="1"/>
          </p:nvPr>
        </p:nvSpPr>
        <p:spPr>
          <a:xfrm>
            <a:off x="857250" y="4802717"/>
            <a:ext cx="5143500" cy="2207683"/>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BB664975-44FB-4565-87F5-0251F6F0E26F}" type="datetimeFigureOut">
              <a:rPr kumimoji="1" lang="ja-JP" altLang="en-US" smtClean="0"/>
              <a:t>2026/7/28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24733C50-E2EE-4DAA-8CC2-5E457E1EA740}" type="slidenum">
              <a:rPr kumimoji="1" lang="ja-JP" altLang="en-US" smtClean="0"/>
              <a:t>‹#›</a:t>
            </a:fld>
            <a:endParaRPr kumimoji="1" lang="ja-JP" altLang="en-US"/>
          </a:p>
        </p:txBody>
      </p:sp>
    </p:spTree>
    <p:extLst>
      <p:ext uri="{BB962C8B-B14F-4D97-AF65-F5344CB8AC3E}">
        <p14:creationId xmlns:p14="http://schemas.microsoft.com/office/powerpoint/2010/main" val="14771049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BB664975-44FB-4565-87F5-0251F6F0E26F}" type="datetimeFigureOut">
              <a:rPr kumimoji="1" lang="ja-JP" altLang="en-US" smtClean="0"/>
              <a:t>2026/7/28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24733C50-E2EE-4DAA-8CC2-5E457E1EA740}" type="slidenum">
              <a:rPr kumimoji="1" lang="ja-JP" altLang="en-US" smtClean="0"/>
              <a:t>‹#›</a:t>
            </a:fld>
            <a:endParaRPr kumimoji="1" lang="ja-JP" altLang="en-US"/>
          </a:p>
        </p:txBody>
      </p:sp>
    </p:spTree>
    <p:extLst>
      <p:ext uri="{BB962C8B-B14F-4D97-AF65-F5344CB8AC3E}">
        <p14:creationId xmlns:p14="http://schemas.microsoft.com/office/powerpoint/2010/main" val="28370560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467916" y="2279653"/>
            <a:ext cx="5915025" cy="3803649"/>
          </a:xfrm>
        </p:spPr>
        <p:txBody>
          <a:bodyPr anchor="b"/>
          <a:lstStyle>
            <a:lvl1pPr>
              <a:defRPr sz="45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467916" y="6119286"/>
            <a:ext cx="5915025" cy="2000249"/>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BB664975-44FB-4565-87F5-0251F6F0E26F}" type="datetimeFigureOut">
              <a:rPr kumimoji="1" lang="ja-JP" altLang="en-US" smtClean="0"/>
              <a:t>2026/7/28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24733C50-E2EE-4DAA-8CC2-5E457E1EA740}" type="slidenum">
              <a:rPr kumimoji="1" lang="ja-JP" altLang="en-US" smtClean="0"/>
              <a:t>‹#›</a:t>
            </a:fld>
            <a:endParaRPr kumimoji="1" lang="ja-JP" altLang="en-US"/>
          </a:p>
        </p:txBody>
      </p:sp>
    </p:spTree>
    <p:extLst>
      <p:ext uri="{BB962C8B-B14F-4D97-AF65-F5344CB8AC3E}">
        <p14:creationId xmlns:p14="http://schemas.microsoft.com/office/powerpoint/2010/main" val="2570224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471488" y="2434167"/>
            <a:ext cx="2914650" cy="5801784"/>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3471863" y="2434167"/>
            <a:ext cx="2914650" cy="5801784"/>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BB664975-44FB-4565-87F5-0251F6F0E26F}" type="datetimeFigureOut">
              <a:rPr kumimoji="1" lang="ja-JP" altLang="en-US" smtClean="0"/>
              <a:t>2026/7/28</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24733C50-E2EE-4DAA-8CC2-5E457E1EA740}" type="slidenum">
              <a:rPr kumimoji="1" lang="ja-JP" altLang="en-US" smtClean="0"/>
              <a:t>‹#›</a:t>
            </a:fld>
            <a:endParaRPr kumimoji="1" lang="ja-JP" altLang="en-US"/>
          </a:p>
        </p:txBody>
      </p:sp>
    </p:spTree>
    <p:extLst>
      <p:ext uri="{BB962C8B-B14F-4D97-AF65-F5344CB8AC3E}">
        <p14:creationId xmlns:p14="http://schemas.microsoft.com/office/powerpoint/2010/main" val="17882058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472381" y="486836"/>
            <a:ext cx="5915025" cy="1767417"/>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472381" y="2241551"/>
            <a:ext cx="2901255" cy="1098549"/>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ja-JP" altLang="en-US"/>
              <a:t>マスター テキストの書式設定</a:t>
            </a:r>
          </a:p>
        </p:txBody>
      </p:sp>
      <p:sp>
        <p:nvSpPr>
          <p:cNvPr id="4" name="Content Placeholder 3"/>
          <p:cNvSpPr>
            <a:spLocks noGrp="1"/>
          </p:cNvSpPr>
          <p:nvPr>
            <p:ph sz="half" idx="2"/>
          </p:nvPr>
        </p:nvSpPr>
        <p:spPr>
          <a:xfrm>
            <a:off x="472381" y="3340100"/>
            <a:ext cx="2901255" cy="4912784"/>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3471863" y="2241551"/>
            <a:ext cx="2915543" cy="1098549"/>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ja-JP" altLang="en-US"/>
              <a:t>マスター テキストの書式設定</a:t>
            </a:r>
          </a:p>
        </p:txBody>
      </p:sp>
      <p:sp>
        <p:nvSpPr>
          <p:cNvPr id="6" name="Content Placeholder 5"/>
          <p:cNvSpPr>
            <a:spLocks noGrp="1"/>
          </p:cNvSpPr>
          <p:nvPr>
            <p:ph sz="quarter" idx="4"/>
          </p:nvPr>
        </p:nvSpPr>
        <p:spPr>
          <a:xfrm>
            <a:off x="3471863" y="3340100"/>
            <a:ext cx="2915543" cy="4912784"/>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BB664975-44FB-4565-87F5-0251F6F0E26F}" type="datetimeFigureOut">
              <a:rPr kumimoji="1" lang="ja-JP" altLang="en-US" smtClean="0"/>
              <a:t>2026/7/28</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24733C50-E2EE-4DAA-8CC2-5E457E1EA740}" type="slidenum">
              <a:rPr kumimoji="1" lang="ja-JP" altLang="en-US" smtClean="0"/>
              <a:t>‹#›</a:t>
            </a:fld>
            <a:endParaRPr kumimoji="1" lang="ja-JP" altLang="en-US"/>
          </a:p>
        </p:txBody>
      </p:sp>
    </p:spTree>
    <p:extLst>
      <p:ext uri="{BB962C8B-B14F-4D97-AF65-F5344CB8AC3E}">
        <p14:creationId xmlns:p14="http://schemas.microsoft.com/office/powerpoint/2010/main" val="34353999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BB664975-44FB-4565-87F5-0251F6F0E26F}" type="datetimeFigureOut">
              <a:rPr kumimoji="1" lang="ja-JP" altLang="en-US" smtClean="0"/>
              <a:t>2026/7/28</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24733C50-E2EE-4DAA-8CC2-5E457E1EA740}" type="slidenum">
              <a:rPr kumimoji="1" lang="ja-JP" altLang="en-US" smtClean="0"/>
              <a:t>‹#›</a:t>
            </a:fld>
            <a:endParaRPr kumimoji="1" lang="ja-JP" altLang="en-US"/>
          </a:p>
        </p:txBody>
      </p:sp>
    </p:spTree>
    <p:extLst>
      <p:ext uri="{BB962C8B-B14F-4D97-AF65-F5344CB8AC3E}">
        <p14:creationId xmlns:p14="http://schemas.microsoft.com/office/powerpoint/2010/main" val="27787748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B664975-44FB-4565-87F5-0251F6F0E26F}" type="datetimeFigureOut">
              <a:rPr kumimoji="1" lang="ja-JP" altLang="en-US" smtClean="0"/>
              <a:t>2026/7/28</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24733C50-E2EE-4DAA-8CC2-5E457E1EA740}" type="slidenum">
              <a:rPr kumimoji="1" lang="ja-JP" altLang="en-US" smtClean="0"/>
              <a:t>‹#›</a:t>
            </a:fld>
            <a:endParaRPr kumimoji="1" lang="ja-JP" altLang="en-US"/>
          </a:p>
        </p:txBody>
      </p:sp>
    </p:spTree>
    <p:extLst>
      <p:ext uri="{BB962C8B-B14F-4D97-AF65-F5344CB8AC3E}">
        <p14:creationId xmlns:p14="http://schemas.microsoft.com/office/powerpoint/2010/main" val="10672895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472381" y="609600"/>
            <a:ext cx="2211884" cy="2133600"/>
          </a:xfrm>
        </p:spPr>
        <p:txBody>
          <a:bodyPr anchor="b"/>
          <a:lstStyle>
            <a:lvl1pPr>
              <a:defRPr sz="2400"/>
            </a:lvl1pPr>
          </a:lstStyle>
          <a:p>
            <a:r>
              <a:rPr lang="ja-JP" altLang="en-US"/>
              <a:t>マスター タイトルの書式設定</a:t>
            </a:r>
            <a:endParaRPr lang="en-US" dirty="0"/>
          </a:p>
        </p:txBody>
      </p:sp>
      <p:sp>
        <p:nvSpPr>
          <p:cNvPr id="3" name="Content Placeholder 2"/>
          <p:cNvSpPr>
            <a:spLocks noGrp="1"/>
          </p:cNvSpPr>
          <p:nvPr>
            <p:ph idx="1"/>
          </p:nvPr>
        </p:nvSpPr>
        <p:spPr>
          <a:xfrm>
            <a:off x="2915543" y="1316569"/>
            <a:ext cx="3471863" cy="6498167"/>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472381" y="2743200"/>
            <a:ext cx="2211884" cy="508211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BB664975-44FB-4565-87F5-0251F6F0E26F}" type="datetimeFigureOut">
              <a:rPr kumimoji="1" lang="ja-JP" altLang="en-US" smtClean="0"/>
              <a:t>2026/7/28</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24733C50-E2EE-4DAA-8CC2-5E457E1EA740}" type="slidenum">
              <a:rPr kumimoji="1" lang="ja-JP" altLang="en-US" smtClean="0"/>
              <a:t>‹#›</a:t>
            </a:fld>
            <a:endParaRPr kumimoji="1" lang="ja-JP" altLang="en-US"/>
          </a:p>
        </p:txBody>
      </p:sp>
    </p:spTree>
    <p:extLst>
      <p:ext uri="{BB962C8B-B14F-4D97-AF65-F5344CB8AC3E}">
        <p14:creationId xmlns:p14="http://schemas.microsoft.com/office/powerpoint/2010/main" val="19447986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472381" y="609600"/>
            <a:ext cx="2211884" cy="2133600"/>
          </a:xfrm>
        </p:spPr>
        <p:txBody>
          <a:bodyPr anchor="b"/>
          <a:lstStyle>
            <a:lvl1pPr>
              <a:defRPr sz="24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2915543" y="1316569"/>
            <a:ext cx="3471863" cy="6498167"/>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472381" y="2743200"/>
            <a:ext cx="2211884" cy="508211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BB664975-44FB-4565-87F5-0251F6F0E26F}" type="datetimeFigureOut">
              <a:rPr kumimoji="1" lang="ja-JP" altLang="en-US" smtClean="0"/>
              <a:t>2026/7/28</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24733C50-E2EE-4DAA-8CC2-5E457E1EA740}" type="slidenum">
              <a:rPr kumimoji="1" lang="ja-JP" altLang="en-US" smtClean="0"/>
              <a:t>‹#›</a:t>
            </a:fld>
            <a:endParaRPr kumimoji="1" lang="ja-JP" altLang="en-US"/>
          </a:p>
        </p:txBody>
      </p:sp>
    </p:spTree>
    <p:extLst>
      <p:ext uri="{BB962C8B-B14F-4D97-AF65-F5344CB8AC3E}">
        <p14:creationId xmlns:p14="http://schemas.microsoft.com/office/powerpoint/2010/main" val="16665112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BB664975-44FB-4565-87F5-0251F6F0E26F}" type="datetimeFigureOut">
              <a:rPr kumimoji="1" lang="ja-JP" altLang="en-US" smtClean="0"/>
              <a:t>2026/7/28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24733C50-E2EE-4DAA-8CC2-5E457E1EA740}" type="slidenum">
              <a:rPr kumimoji="1" lang="ja-JP" altLang="en-US" smtClean="0"/>
              <a:t>‹#›</a:t>
            </a:fld>
            <a:endParaRPr kumimoji="1" lang="ja-JP" altLang="en-US"/>
          </a:p>
        </p:txBody>
      </p:sp>
    </p:spTree>
    <p:extLst>
      <p:ext uri="{BB962C8B-B14F-4D97-AF65-F5344CB8AC3E}">
        <p14:creationId xmlns:p14="http://schemas.microsoft.com/office/powerpoint/2010/main" val="38978360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486834"/>
            <a:ext cx="1478756" cy="7749117"/>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471488" y="486834"/>
            <a:ext cx="4350544" cy="7749117"/>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BB664975-44FB-4565-87F5-0251F6F0E26F}" type="datetimeFigureOut">
              <a:rPr kumimoji="1" lang="ja-JP" altLang="en-US" smtClean="0"/>
              <a:t>2026/7/28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24733C50-E2EE-4DAA-8CC2-5E457E1EA740}" type="slidenum">
              <a:rPr kumimoji="1" lang="ja-JP" altLang="en-US" smtClean="0"/>
              <a:t>‹#›</a:t>
            </a:fld>
            <a:endParaRPr kumimoji="1" lang="ja-JP" altLang="en-US"/>
          </a:p>
        </p:txBody>
      </p:sp>
    </p:spTree>
    <p:extLst>
      <p:ext uri="{BB962C8B-B14F-4D97-AF65-F5344CB8AC3E}">
        <p14:creationId xmlns:p14="http://schemas.microsoft.com/office/powerpoint/2010/main" val="19062179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486836"/>
            <a:ext cx="5915025" cy="1767417"/>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471488" y="2434167"/>
            <a:ext cx="5915025" cy="5801784"/>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471488" y="8475136"/>
            <a:ext cx="1543050" cy="486833"/>
          </a:xfrm>
          <a:prstGeom prst="rect">
            <a:avLst/>
          </a:prstGeom>
        </p:spPr>
        <p:txBody>
          <a:bodyPr vert="horz" lIns="91440" tIns="45720" rIns="91440" bIns="45720" rtlCol="0" anchor="ctr"/>
          <a:lstStyle>
            <a:lvl1pPr algn="l">
              <a:defRPr sz="900">
                <a:solidFill>
                  <a:schemeClr val="tx1">
                    <a:tint val="75000"/>
                  </a:schemeClr>
                </a:solidFill>
              </a:defRPr>
            </a:lvl1pPr>
          </a:lstStyle>
          <a:p>
            <a:fld id="{BB664975-44FB-4565-87F5-0251F6F0E26F}" type="datetimeFigureOut">
              <a:rPr kumimoji="1" lang="ja-JP" altLang="en-US" smtClean="0"/>
              <a:t>2026/7/28</a:t>
            </a:fld>
            <a:endParaRPr kumimoji="1" lang="ja-JP" altLang="en-US"/>
          </a:p>
        </p:txBody>
      </p:sp>
      <p:sp>
        <p:nvSpPr>
          <p:cNvPr id="5" name="Footer Placeholder 4"/>
          <p:cNvSpPr>
            <a:spLocks noGrp="1"/>
          </p:cNvSpPr>
          <p:nvPr>
            <p:ph type="ftr" sz="quarter" idx="3"/>
          </p:nvPr>
        </p:nvSpPr>
        <p:spPr>
          <a:xfrm>
            <a:off x="2271713" y="8475136"/>
            <a:ext cx="2314575" cy="48683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4843463" y="8475136"/>
            <a:ext cx="1543050" cy="486833"/>
          </a:xfrm>
          <a:prstGeom prst="rect">
            <a:avLst/>
          </a:prstGeom>
        </p:spPr>
        <p:txBody>
          <a:bodyPr vert="horz" lIns="91440" tIns="45720" rIns="91440" bIns="45720" rtlCol="0" anchor="ctr"/>
          <a:lstStyle>
            <a:lvl1pPr algn="r">
              <a:defRPr sz="900">
                <a:solidFill>
                  <a:schemeClr val="tx1">
                    <a:tint val="75000"/>
                  </a:schemeClr>
                </a:solidFill>
              </a:defRPr>
            </a:lvl1pPr>
          </a:lstStyle>
          <a:p>
            <a:fld id="{24733C50-E2EE-4DAA-8CC2-5E457E1EA740}" type="slidenum">
              <a:rPr kumimoji="1" lang="ja-JP" altLang="en-US" smtClean="0"/>
              <a:t>‹#›</a:t>
            </a:fld>
            <a:endParaRPr kumimoji="1" lang="ja-JP" altLang="en-US"/>
          </a:p>
        </p:txBody>
      </p:sp>
    </p:spTree>
    <p:extLst>
      <p:ext uri="{BB962C8B-B14F-4D97-AF65-F5344CB8AC3E}">
        <p14:creationId xmlns:p14="http://schemas.microsoft.com/office/powerpoint/2010/main" val="164715165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85800" rtl="0" eaLnBrk="1" latinLnBrk="0" hangingPunct="1">
        <a:lnSpc>
          <a:spcPct val="90000"/>
        </a:lnSpc>
        <a:spcBef>
          <a:spcPct val="0"/>
        </a:spcBef>
        <a:buNone/>
        <a:defRPr kumimoji="1"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kumimoji="1"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p:bodyStyle>
    <p:otherStyle>
      <a:defPPr>
        <a:defRPr lang="en-US"/>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73739A1B-0F84-900C-42E6-4BD60714423F}"/>
              </a:ext>
            </a:extLst>
          </p:cNvPr>
          <p:cNvSpPr txBox="1"/>
          <p:nvPr/>
        </p:nvSpPr>
        <p:spPr>
          <a:xfrm>
            <a:off x="323850" y="3644274"/>
            <a:ext cx="6210299" cy="3416320"/>
          </a:xfrm>
          <a:prstGeom prst="rect">
            <a:avLst/>
          </a:prstGeom>
          <a:noFill/>
        </p:spPr>
        <p:txBody>
          <a:bodyPr wrap="square">
            <a:spAutoFit/>
          </a:bodyPr>
          <a:lstStyle/>
          <a:p>
            <a:pPr>
              <a:buNone/>
            </a:pPr>
            <a:r>
              <a:rPr lang="ja-JP" altLang="en-US" sz="1200" dirty="0">
                <a:latin typeface="BIZ UDPゴシック" panose="020B0400000000000000" pitchFamily="50" charset="-128"/>
                <a:ea typeface="BIZ UDPゴシック" panose="020B0400000000000000" pitchFamily="50" charset="-128"/>
              </a:rPr>
              <a:t>そのご理解の方向性で概ね合っていますが、データの流れや保存場所について少しだけ補足・整理すると以下のようになります。</a:t>
            </a:r>
          </a:p>
          <a:p>
            <a:pPr>
              <a:buFont typeface="Arial" panose="020B0604020202020204" pitchFamily="34" charset="0"/>
              <a:buChar char="•"/>
            </a:pPr>
            <a:r>
              <a:rPr lang="en-US" altLang="ja-JP" sz="1200" b="1" dirty="0">
                <a:latin typeface="BIZ UDPゴシック" panose="020B0400000000000000" pitchFamily="50" charset="-128"/>
                <a:ea typeface="BIZ UDPゴシック" panose="020B0400000000000000" pitchFamily="50" charset="-128"/>
              </a:rPr>
              <a:t>GitHub</a:t>
            </a:r>
            <a:r>
              <a:rPr lang="ja-JP" altLang="en-US" sz="1200" b="1" dirty="0">
                <a:latin typeface="BIZ UDPゴシック" panose="020B0400000000000000" pitchFamily="50" charset="-128"/>
                <a:ea typeface="BIZ UDPゴシック" panose="020B0400000000000000" pitchFamily="50" charset="-128"/>
              </a:rPr>
              <a:t>（保存場所）</a:t>
            </a:r>
            <a:r>
              <a:rPr lang="en-US" altLang="ja-JP" sz="1200" dirty="0">
                <a:latin typeface="BIZ UDPゴシック" panose="020B0400000000000000" pitchFamily="50" charset="-128"/>
                <a:ea typeface="BIZ UDPゴシック" panose="020B0400000000000000" pitchFamily="50" charset="-128"/>
              </a:rPr>
              <a:t>:</a:t>
            </a:r>
          </a:p>
          <a:p>
            <a:pPr marL="742950" lvl="1" indent="-285750">
              <a:buFont typeface="Arial" panose="020B0604020202020204" pitchFamily="34" charset="0"/>
              <a:buChar char="•"/>
            </a:pPr>
            <a:r>
              <a:rPr lang="ja-JP" altLang="en-US" sz="1200" dirty="0">
                <a:latin typeface="BIZ UDPゴシック" panose="020B0400000000000000" pitchFamily="50" charset="-128"/>
                <a:ea typeface="BIZ UDPゴシック" panose="020B0400000000000000" pitchFamily="50" charset="-128"/>
              </a:rPr>
              <a:t>アプリを動かすためのメインのプログラム（画面の見た目や地図、予測計算のロジックが書かれた </a:t>
            </a:r>
            <a:r>
              <a:rPr lang="en-US" altLang="ja-JP" sz="1200" dirty="0">
                <a:latin typeface="BIZ UDPゴシック" panose="020B0400000000000000" pitchFamily="50" charset="-128"/>
                <a:ea typeface="BIZ UDPゴシック" panose="020B0400000000000000" pitchFamily="50" charset="-128"/>
              </a:rPr>
              <a:t>app.py</a:t>
            </a:r>
            <a:r>
              <a:rPr lang="ja-JP" altLang="en-US" sz="1200" dirty="0">
                <a:latin typeface="BIZ UDPゴシック" panose="020B0400000000000000" pitchFamily="50" charset="-128"/>
                <a:ea typeface="BIZ UDPゴシック" panose="020B0400000000000000" pitchFamily="50" charset="-128"/>
              </a:rPr>
              <a:t> など）が保存されています。</a:t>
            </a:r>
          </a:p>
          <a:p>
            <a:pPr>
              <a:buFont typeface="Arial" panose="020B0604020202020204" pitchFamily="34" charset="0"/>
              <a:buChar char="•"/>
            </a:pPr>
            <a:r>
              <a:rPr lang="en-US" altLang="ja-JP" sz="1200" b="1" dirty="0">
                <a:latin typeface="BIZ UDPゴシック" panose="020B0400000000000000" pitchFamily="50" charset="-128"/>
                <a:ea typeface="BIZ UDPゴシック" panose="020B0400000000000000" pitchFamily="50" charset="-128"/>
              </a:rPr>
              <a:t>Google Cloud</a:t>
            </a:r>
            <a:r>
              <a:rPr lang="ja-JP" altLang="en-US" sz="1200" b="1" dirty="0">
                <a:latin typeface="BIZ UDPゴシック" panose="020B0400000000000000" pitchFamily="50" charset="-128"/>
                <a:ea typeface="BIZ UDPゴシック" panose="020B0400000000000000" pitchFamily="50" charset="-128"/>
              </a:rPr>
              <a:t>（データ・</a:t>
            </a:r>
            <a:r>
              <a:rPr lang="en-US" altLang="ja-JP" sz="1200" b="1" dirty="0">
                <a:latin typeface="BIZ UDPゴシック" panose="020B0400000000000000" pitchFamily="50" charset="-128"/>
                <a:ea typeface="BIZ UDPゴシック" panose="020B0400000000000000" pitchFamily="50" charset="-128"/>
              </a:rPr>
              <a:t>API</a:t>
            </a:r>
            <a:r>
              <a:rPr lang="ja-JP" altLang="en-US" sz="1200" b="1" dirty="0">
                <a:latin typeface="BIZ UDPゴシック" panose="020B0400000000000000" pitchFamily="50" charset="-128"/>
                <a:ea typeface="BIZ UDPゴシック" panose="020B0400000000000000" pitchFamily="50" charset="-128"/>
              </a:rPr>
              <a:t>側）</a:t>
            </a:r>
            <a:r>
              <a:rPr lang="en-US" altLang="ja-JP" sz="1200" dirty="0">
                <a:latin typeface="BIZ UDPゴシック" panose="020B0400000000000000" pitchFamily="50" charset="-128"/>
                <a:ea typeface="BIZ UDPゴシック" panose="020B0400000000000000" pitchFamily="50" charset="-128"/>
              </a:rPr>
              <a:t>:</a:t>
            </a:r>
          </a:p>
          <a:p>
            <a:pPr marL="742950" lvl="1" indent="-285750">
              <a:buFont typeface="Arial" panose="020B0604020202020204" pitchFamily="34" charset="0"/>
              <a:buChar char="•"/>
            </a:pPr>
            <a:r>
              <a:rPr lang="ja-JP" altLang="en-US" sz="1200" dirty="0">
                <a:latin typeface="BIZ UDPゴシック" panose="020B0400000000000000" pitchFamily="50" charset="-128"/>
                <a:ea typeface="BIZ UDPゴシック" panose="020B0400000000000000" pitchFamily="50" charset="-128"/>
              </a:rPr>
              <a:t>気象データ（気温など）を配信しているサーバー（プロキシ）が</a:t>
            </a:r>
            <a:r>
              <a:rPr lang="en-US" altLang="ja-JP" sz="1200" dirty="0">
                <a:latin typeface="BIZ UDPゴシック" panose="020B0400000000000000" pitchFamily="50" charset="-128"/>
                <a:ea typeface="BIZ UDPゴシック" panose="020B0400000000000000" pitchFamily="50" charset="-128"/>
              </a:rPr>
              <a:t>Google Cloud</a:t>
            </a:r>
            <a:r>
              <a:rPr lang="ja-JP" altLang="en-US" sz="1200" dirty="0">
                <a:latin typeface="BIZ UDPゴシック" panose="020B0400000000000000" pitchFamily="50" charset="-128"/>
                <a:ea typeface="BIZ UDPゴシック" panose="020B0400000000000000" pitchFamily="50" charset="-128"/>
              </a:rPr>
              <a:t>上で動いています。</a:t>
            </a:r>
          </a:p>
          <a:p>
            <a:pPr marL="742950" lvl="1" indent="-285750">
              <a:buFont typeface="Arial" panose="020B0604020202020204" pitchFamily="34" charset="0"/>
              <a:buChar char="•"/>
            </a:pPr>
            <a:r>
              <a:rPr lang="en-US" altLang="ja-JP" sz="1200" dirty="0">
                <a:latin typeface="BIZ UDPゴシック" panose="020B0400000000000000" pitchFamily="50" charset="-128"/>
                <a:ea typeface="BIZ UDPゴシック" panose="020B0400000000000000" pitchFamily="50" charset="-128"/>
              </a:rPr>
              <a:t>※</a:t>
            </a:r>
            <a:r>
              <a:rPr lang="ja-JP" altLang="en-US" sz="1200" dirty="0">
                <a:latin typeface="BIZ UDPゴシック" panose="020B0400000000000000" pitchFamily="50" charset="-128"/>
                <a:ea typeface="BIZ UDPゴシック" panose="020B0400000000000000" pitchFamily="50" charset="-128"/>
              </a:rPr>
              <a:t>もし認証情報（</a:t>
            </a:r>
            <a:r>
              <a:rPr lang="en-US" altLang="ja-JP" sz="1200" dirty="0">
                <a:latin typeface="BIZ UDPゴシック" panose="020B0400000000000000" pitchFamily="50" charset="-128"/>
                <a:ea typeface="BIZ UDPゴシック" panose="020B0400000000000000" pitchFamily="50" charset="-128"/>
              </a:rPr>
              <a:t>ID</a:t>
            </a:r>
            <a:r>
              <a:rPr lang="ja-JP" altLang="en-US" sz="1200" dirty="0">
                <a:latin typeface="BIZ UDPゴシック" panose="020B0400000000000000" pitchFamily="50" charset="-128"/>
                <a:ea typeface="BIZ UDPゴシック" panose="020B0400000000000000" pitchFamily="50" charset="-128"/>
              </a:rPr>
              <a:t>・パスワード等）がある場合でも、それらは通常</a:t>
            </a:r>
            <a:r>
              <a:rPr lang="en-US" altLang="ja-JP" sz="1200" dirty="0">
                <a:latin typeface="BIZ UDPゴシック" panose="020B0400000000000000" pitchFamily="50" charset="-128"/>
                <a:ea typeface="BIZ UDPゴシック" panose="020B0400000000000000" pitchFamily="50" charset="-128"/>
              </a:rPr>
              <a:t>GitHub</a:t>
            </a:r>
            <a:r>
              <a:rPr lang="ja-JP" altLang="en-US" sz="1200" dirty="0">
                <a:latin typeface="BIZ UDPゴシック" panose="020B0400000000000000" pitchFamily="50" charset="-128"/>
                <a:ea typeface="BIZ UDPゴシック" panose="020B0400000000000000" pitchFamily="50" charset="-128"/>
              </a:rPr>
              <a:t>のコード内には直接書かず、</a:t>
            </a:r>
            <a:r>
              <a:rPr lang="en-US" altLang="ja-JP" sz="1200" dirty="0" err="1">
                <a:latin typeface="BIZ UDPゴシック" panose="020B0400000000000000" pitchFamily="50" charset="-128"/>
                <a:ea typeface="BIZ UDPゴシック" panose="020B0400000000000000" pitchFamily="50" charset="-128"/>
              </a:rPr>
              <a:t>Streamlit</a:t>
            </a:r>
            <a:r>
              <a:rPr lang="en-US" altLang="ja-JP" sz="1200" dirty="0">
                <a:latin typeface="BIZ UDPゴシック" panose="020B0400000000000000" pitchFamily="50" charset="-128"/>
                <a:ea typeface="BIZ UDPゴシック" panose="020B0400000000000000" pitchFamily="50" charset="-128"/>
              </a:rPr>
              <a:t> Cloud</a:t>
            </a:r>
            <a:r>
              <a:rPr lang="ja-JP" altLang="en-US" sz="1200" dirty="0">
                <a:latin typeface="BIZ UDPゴシック" panose="020B0400000000000000" pitchFamily="50" charset="-128"/>
                <a:ea typeface="BIZ UDPゴシック" panose="020B0400000000000000" pitchFamily="50" charset="-128"/>
              </a:rPr>
              <a:t>の「</a:t>
            </a:r>
            <a:r>
              <a:rPr lang="en-US" altLang="ja-JP" sz="1200" dirty="0">
                <a:latin typeface="BIZ UDPゴシック" panose="020B0400000000000000" pitchFamily="50" charset="-128"/>
                <a:ea typeface="BIZ UDPゴシック" panose="020B0400000000000000" pitchFamily="50" charset="-128"/>
              </a:rPr>
              <a:t>Secrets</a:t>
            </a:r>
            <a:r>
              <a:rPr lang="ja-JP" altLang="en-US" sz="1200" dirty="0">
                <a:latin typeface="BIZ UDPゴシック" panose="020B0400000000000000" pitchFamily="50" charset="-128"/>
                <a:ea typeface="BIZ UDPゴシック" panose="020B0400000000000000" pitchFamily="50" charset="-128"/>
              </a:rPr>
              <a:t>（秘密情報設定機能）」などの安全な場所に隠して管理されています。</a:t>
            </a:r>
          </a:p>
          <a:p>
            <a:pPr>
              <a:buFont typeface="Arial" panose="020B0604020202020204" pitchFamily="34" charset="0"/>
              <a:buChar char="•"/>
            </a:pPr>
            <a:r>
              <a:rPr lang="ja-JP" altLang="en-US" sz="1200" b="1" dirty="0">
                <a:latin typeface="BIZ UDPゴシック" panose="020B0400000000000000" pitchFamily="50" charset="-128"/>
                <a:ea typeface="BIZ UDPゴシック" panose="020B0400000000000000" pitchFamily="50" charset="-128"/>
              </a:rPr>
              <a:t>ユーザーの動き（実行の流れ）</a:t>
            </a:r>
            <a:r>
              <a:rPr lang="en-US" altLang="ja-JP" sz="1200" dirty="0">
                <a:latin typeface="BIZ UDPゴシック" panose="020B0400000000000000" pitchFamily="50" charset="-128"/>
                <a:ea typeface="BIZ UDPゴシック" panose="020B0400000000000000" pitchFamily="50" charset="-128"/>
              </a:rPr>
              <a:t>:</a:t>
            </a:r>
          </a:p>
          <a:p>
            <a:pPr marL="742950" lvl="1" indent="-285750">
              <a:buFont typeface="Arial" panose="020B0604020202020204" pitchFamily="34" charset="0"/>
              <a:buChar char="•"/>
            </a:pPr>
            <a:r>
              <a:rPr lang="ja-JP" altLang="en-US" sz="1200" dirty="0">
                <a:latin typeface="BIZ UDPゴシック" panose="020B0400000000000000" pitchFamily="50" charset="-128"/>
                <a:ea typeface="BIZ UDPゴシック" panose="020B0400000000000000" pitchFamily="50" charset="-128"/>
              </a:rPr>
              <a:t>ユーザーは、</a:t>
            </a:r>
            <a:r>
              <a:rPr lang="en-US" altLang="ja-JP" sz="1200" dirty="0">
                <a:latin typeface="BIZ UDPゴシック" panose="020B0400000000000000" pitchFamily="50" charset="-128"/>
                <a:ea typeface="BIZ UDPゴシック" panose="020B0400000000000000" pitchFamily="50" charset="-128"/>
              </a:rPr>
              <a:t>GitHub</a:t>
            </a:r>
            <a:r>
              <a:rPr lang="ja-JP" altLang="en-US" sz="1200" dirty="0">
                <a:latin typeface="BIZ UDPゴシック" panose="020B0400000000000000" pitchFamily="50" charset="-128"/>
                <a:ea typeface="BIZ UDPゴシック" panose="020B0400000000000000" pitchFamily="50" charset="-128"/>
              </a:rPr>
              <a:t>に直接アクセスするのではなく、</a:t>
            </a:r>
            <a:r>
              <a:rPr lang="en-US" altLang="ja-JP" sz="1200" dirty="0" err="1">
                <a:latin typeface="BIZ UDPゴシック" panose="020B0400000000000000" pitchFamily="50" charset="-128"/>
                <a:ea typeface="BIZ UDPゴシック" panose="020B0400000000000000" pitchFamily="50" charset="-128"/>
              </a:rPr>
              <a:t>Streamlit</a:t>
            </a:r>
            <a:r>
              <a:rPr lang="en-US" altLang="ja-JP" sz="1200" dirty="0">
                <a:latin typeface="BIZ UDPゴシック" panose="020B0400000000000000" pitchFamily="50" charset="-128"/>
                <a:ea typeface="BIZ UDPゴシック" panose="020B0400000000000000" pitchFamily="50" charset="-128"/>
              </a:rPr>
              <a:t> Cloud</a:t>
            </a:r>
            <a:r>
              <a:rPr lang="ja-JP" altLang="en-US" sz="1200" dirty="0">
                <a:latin typeface="BIZ UDPゴシック" panose="020B0400000000000000" pitchFamily="50" charset="-128"/>
                <a:ea typeface="BIZ UDPゴシック" panose="020B0400000000000000" pitchFamily="50" charset="-128"/>
              </a:rPr>
              <a:t>という公開・実行基盤を通じてインターネット経由で</a:t>
            </a:r>
            <a:r>
              <a:rPr lang="en-US" altLang="ja-JP" sz="1200" b="1" dirty="0">
                <a:latin typeface="BIZ UDPゴシック" panose="020B0400000000000000" pitchFamily="50" charset="-128"/>
                <a:ea typeface="BIZ UDPゴシック" panose="020B0400000000000000" pitchFamily="50" charset="-128"/>
              </a:rPr>
              <a:t>Web</a:t>
            </a:r>
            <a:r>
              <a:rPr lang="ja-JP" altLang="en-US" sz="1200" b="1" dirty="0">
                <a:latin typeface="BIZ UDPゴシック" panose="020B0400000000000000" pitchFamily="50" charset="-128"/>
                <a:ea typeface="BIZ UDPゴシック" panose="020B0400000000000000" pitchFamily="50" charset="-128"/>
              </a:rPr>
              <a:t>アプリの画面（</a:t>
            </a:r>
            <a:r>
              <a:rPr lang="en-US" altLang="ja-JP" sz="1200" b="1" dirty="0">
                <a:latin typeface="BIZ UDPゴシック" panose="020B0400000000000000" pitchFamily="50" charset="-128"/>
                <a:ea typeface="BIZ UDPゴシック" panose="020B0400000000000000" pitchFamily="50" charset="-128"/>
              </a:rPr>
              <a:t>URL</a:t>
            </a:r>
            <a:r>
              <a:rPr lang="ja-JP" altLang="en-US" sz="1200" b="1" dirty="0">
                <a:latin typeface="BIZ UDPゴシック" panose="020B0400000000000000" pitchFamily="50" charset="-128"/>
                <a:ea typeface="BIZ UDPゴシック" panose="020B0400000000000000" pitchFamily="50" charset="-128"/>
              </a:rPr>
              <a:t>）にアクセス</a:t>
            </a:r>
            <a:r>
              <a:rPr lang="ja-JP" altLang="en-US" sz="1200" dirty="0">
                <a:latin typeface="BIZ UDPゴシック" panose="020B0400000000000000" pitchFamily="50" charset="-128"/>
                <a:ea typeface="BIZ UDPゴシック" panose="020B0400000000000000" pitchFamily="50" charset="-128"/>
              </a:rPr>
              <a:t>します。</a:t>
            </a:r>
          </a:p>
          <a:p>
            <a:pPr marL="742950" lvl="1" indent="-285750">
              <a:buFont typeface="Arial" panose="020B0604020202020204" pitchFamily="34" charset="0"/>
              <a:buChar char="•"/>
            </a:pPr>
            <a:r>
              <a:rPr lang="ja-JP" altLang="en-US" sz="1200" dirty="0">
                <a:latin typeface="BIZ UDPゴシック" panose="020B0400000000000000" pitchFamily="50" charset="-128"/>
                <a:ea typeface="BIZ UDPゴシック" panose="020B0400000000000000" pitchFamily="50" charset="-128"/>
              </a:rPr>
              <a:t>アプリ画面で操作を行うと、裏側で</a:t>
            </a:r>
            <a:r>
              <a:rPr lang="en-US" altLang="ja-JP" sz="1200" dirty="0">
                <a:latin typeface="BIZ UDPゴシック" panose="020B0400000000000000" pitchFamily="50" charset="-128"/>
                <a:ea typeface="BIZ UDPゴシック" panose="020B0400000000000000" pitchFamily="50" charset="-128"/>
              </a:rPr>
              <a:t>GitHub</a:t>
            </a:r>
            <a:r>
              <a:rPr lang="ja-JP" altLang="en-US" sz="1200" dirty="0">
                <a:latin typeface="BIZ UDPゴシック" panose="020B0400000000000000" pitchFamily="50" charset="-128"/>
                <a:ea typeface="BIZ UDPゴシック" panose="020B0400000000000000" pitchFamily="50" charset="-128"/>
              </a:rPr>
              <a:t>のプログラムが動き、</a:t>
            </a:r>
            <a:r>
              <a:rPr lang="en-US" altLang="ja-JP" sz="1200" dirty="0">
                <a:latin typeface="BIZ UDPゴシック" panose="020B0400000000000000" pitchFamily="50" charset="-128"/>
                <a:ea typeface="BIZ UDPゴシック" panose="020B0400000000000000" pitchFamily="50" charset="-128"/>
              </a:rPr>
              <a:t>Google Cloud</a:t>
            </a:r>
            <a:r>
              <a:rPr lang="ja-JP" altLang="en-US" sz="1200" dirty="0">
                <a:latin typeface="BIZ UDPゴシック" panose="020B0400000000000000" pitchFamily="50" charset="-128"/>
                <a:ea typeface="BIZ UDPゴシック" panose="020B0400000000000000" pitchFamily="50" charset="-128"/>
              </a:rPr>
              <a:t>上の気象データを取りに行って計算結果を画面に表示する、という仕組みになっています。</a:t>
            </a:r>
          </a:p>
        </p:txBody>
      </p:sp>
      <p:pic>
        <p:nvPicPr>
          <p:cNvPr id="7" name="図 6">
            <a:extLst>
              <a:ext uri="{FF2B5EF4-FFF2-40B4-BE49-F238E27FC236}">
                <a16:creationId xmlns:a16="http://schemas.microsoft.com/office/drawing/2014/main" id="{C8E79A6F-A6FA-4E19-2D20-85634B461A61}"/>
              </a:ext>
            </a:extLst>
          </p:cNvPr>
          <p:cNvPicPr>
            <a:picLocks noChangeAspect="1"/>
          </p:cNvPicPr>
          <p:nvPr/>
        </p:nvPicPr>
        <p:blipFill>
          <a:blip r:embed="rId2"/>
          <a:stretch>
            <a:fillRect/>
          </a:stretch>
        </p:blipFill>
        <p:spPr>
          <a:xfrm>
            <a:off x="575582" y="772427"/>
            <a:ext cx="5706836" cy="2237517"/>
          </a:xfrm>
          <a:prstGeom prst="rect">
            <a:avLst/>
          </a:prstGeom>
        </p:spPr>
      </p:pic>
    </p:spTree>
    <p:extLst>
      <p:ext uri="{BB962C8B-B14F-4D97-AF65-F5344CB8AC3E}">
        <p14:creationId xmlns:p14="http://schemas.microsoft.com/office/powerpoint/2010/main" val="1309388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40BDD971-E027-BE8E-0639-0A7AAC85039B}"/>
              </a:ext>
            </a:extLst>
          </p:cNvPr>
          <p:cNvSpPr txBox="1"/>
          <p:nvPr/>
        </p:nvSpPr>
        <p:spPr>
          <a:xfrm>
            <a:off x="391887" y="6512510"/>
            <a:ext cx="5861957" cy="2631490"/>
          </a:xfrm>
          <a:prstGeom prst="rect">
            <a:avLst/>
          </a:prstGeom>
          <a:noFill/>
        </p:spPr>
        <p:txBody>
          <a:bodyPr wrap="square">
            <a:spAutoFit/>
          </a:bodyPr>
          <a:lstStyle/>
          <a:p>
            <a:r>
              <a:rPr lang="en-US" altLang="ja-JP" sz="1100" dirty="0">
                <a:latin typeface="BIZ UDPゴシック" panose="020B0400000000000000" pitchFamily="50" charset="-128"/>
                <a:ea typeface="BIZ UDPゴシック" panose="020B0400000000000000" pitchFamily="50" charset="-128"/>
              </a:rPr>
              <a:t>GitHub</a:t>
            </a:r>
            <a:r>
              <a:rPr lang="ja-JP" altLang="en-US" sz="1100" dirty="0">
                <a:latin typeface="BIZ UDPゴシック" panose="020B0400000000000000" pitchFamily="50" charset="-128"/>
                <a:ea typeface="BIZ UDPゴシック" panose="020B0400000000000000" pitchFamily="50" charset="-128"/>
              </a:rPr>
              <a:t>（ギットハブ）は、世界中のプログラマーやエンジニア、企業がプログラムのソースコードやファイルを保存・共有・共同開発するためのお蔵（クラウド上の倉庫）のような</a:t>
            </a:r>
            <a:r>
              <a:rPr lang="en-US" altLang="ja-JP" sz="1100" dirty="0">
                <a:latin typeface="BIZ UDPゴシック" panose="020B0400000000000000" pitchFamily="50" charset="-128"/>
                <a:ea typeface="BIZ UDPゴシック" panose="020B0400000000000000" pitchFamily="50" charset="-128"/>
              </a:rPr>
              <a:t>Web</a:t>
            </a:r>
            <a:r>
              <a:rPr lang="ja-JP" altLang="en-US" sz="1100" dirty="0">
                <a:latin typeface="BIZ UDPゴシック" panose="020B0400000000000000" pitchFamily="50" charset="-128"/>
                <a:ea typeface="BIZ UDPゴシック" panose="020B0400000000000000" pitchFamily="50" charset="-128"/>
              </a:rPr>
              <a:t>サービスです。組織としての特徴や、今回のアプリにおいてどんな役割を果たしているのかを簡単にまとめると、以下のようになります。🌐 </a:t>
            </a:r>
            <a:r>
              <a:rPr lang="en-US" altLang="ja-JP" sz="1100" dirty="0">
                <a:latin typeface="BIZ UDPゴシック" panose="020B0400000000000000" pitchFamily="50" charset="-128"/>
                <a:ea typeface="BIZ UDPゴシック" panose="020B0400000000000000" pitchFamily="50" charset="-128"/>
              </a:rPr>
              <a:t>GitHub</a:t>
            </a:r>
            <a:r>
              <a:rPr lang="ja-JP" altLang="en-US" sz="1100" dirty="0">
                <a:latin typeface="BIZ UDPゴシック" panose="020B0400000000000000" pitchFamily="50" charset="-128"/>
                <a:ea typeface="BIZ UDPゴシック" panose="020B0400000000000000" pitchFamily="50" charset="-128"/>
              </a:rPr>
              <a:t>というプラットフォームの組織・運営運営会社</a:t>
            </a:r>
            <a:r>
              <a:rPr lang="en-US" altLang="ja-JP" sz="1100" dirty="0">
                <a:latin typeface="BIZ UDPゴシック" panose="020B0400000000000000" pitchFamily="50" charset="-128"/>
                <a:ea typeface="BIZ UDPゴシック" panose="020B0400000000000000" pitchFamily="50" charset="-128"/>
              </a:rPr>
              <a:t>: </a:t>
            </a:r>
            <a:r>
              <a:rPr lang="ja-JP" altLang="en-US" sz="1100" dirty="0">
                <a:latin typeface="BIZ UDPゴシック" panose="020B0400000000000000" pitchFamily="50" charset="-128"/>
                <a:ea typeface="BIZ UDPゴシック" panose="020B0400000000000000" pitchFamily="50" charset="-128"/>
              </a:rPr>
              <a:t>現在は、世界最大の</a:t>
            </a:r>
            <a:r>
              <a:rPr lang="en-US" altLang="ja-JP" sz="1100" dirty="0">
                <a:latin typeface="BIZ UDPゴシック" panose="020B0400000000000000" pitchFamily="50" charset="-128"/>
                <a:ea typeface="BIZ UDPゴシック" panose="020B0400000000000000" pitchFamily="50" charset="-128"/>
              </a:rPr>
              <a:t>IT</a:t>
            </a:r>
            <a:r>
              <a:rPr lang="ja-JP" altLang="en-US" sz="1100" dirty="0">
                <a:latin typeface="BIZ UDPゴシック" panose="020B0400000000000000" pitchFamily="50" charset="-128"/>
                <a:ea typeface="BIZ UDPゴシック" panose="020B0400000000000000" pitchFamily="50" charset="-128"/>
              </a:rPr>
              <a:t>企業である</a:t>
            </a:r>
            <a:r>
              <a:rPr lang="en-US" altLang="ja-JP" sz="1100" dirty="0">
                <a:latin typeface="BIZ UDPゴシック" panose="020B0400000000000000" pitchFamily="50" charset="-128"/>
                <a:ea typeface="BIZ UDPゴシック" panose="020B0400000000000000" pitchFamily="50" charset="-128"/>
              </a:rPr>
              <a:t>Microsoft</a:t>
            </a:r>
            <a:r>
              <a:rPr lang="ja-JP" altLang="en-US" sz="1100" dirty="0">
                <a:latin typeface="BIZ UDPゴシック" panose="020B0400000000000000" pitchFamily="50" charset="-128"/>
                <a:ea typeface="BIZ UDPゴシック" panose="020B0400000000000000" pitchFamily="50" charset="-128"/>
              </a:rPr>
              <a:t>（マイクロソフト）の子会社として運営されています。利用規模</a:t>
            </a:r>
            <a:r>
              <a:rPr lang="en-US" altLang="ja-JP" sz="1100" dirty="0">
                <a:latin typeface="BIZ UDPゴシック" panose="020B0400000000000000" pitchFamily="50" charset="-128"/>
                <a:ea typeface="BIZ UDPゴシック" panose="020B0400000000000000" pitchFamily="50" charset="-128"/>
              </a:rPr>
              <a:t>: </a:t>
            </a:r>
            <a:r>
              <a:rPr lang="ja-JP" altLang="en-US" sz="1100" dirty="0">
                <a:latin typeface="BIZ UDPゴシック" panose="020B0400000000000000" pitchFamily="50" charset="-128"/>
                <a:ea typeface="BIZ UDPゴシック" panose="020B0400000000000000" pitchFamily="50" charset="-128"/>
              </a:rPr>
              <a:t>世界中で</a:t>
            </a:r>
            <a:r>
              <a:rPr lang="en-US" altLang="ja-JP" sz="1100" dirty="0">
                <a:latin typeface="BIZ UDPゴシック" panose="020B0400000000000000" pitchFamily="50" charset="-128"/>
                <a:ea typeface="BIZ UDPゴシック" panose="020B0400000000000000" pitchFamily="50" charset="-128"/>
              </a:rPr>
              <a:t>1,000</a:t>
            </a:r>
            <a:r>
              <a:rPr lang="ja-JP" altLang="en-US" sz="1100" dirty="0">
                <a:latin typeface="BIZ UDPゴシック" panose="020B0400000000000000" pitchFamily="50" charset="-128"/>
                <a:ea typeface="BIZ UDPゴシック" panose="020B0400000000000000" pitchFamily="50" charset="-128"/>
              </a:rPr>
              <a:t>万人以上の開発者や企業が利用している、業界最大の開発プラットフォームです。🛠️ あなたのアプリにおける</a:t>
            </a:r>
            <a:r>
              <a:rPr lang="en-US" altLang="ja-JP" sz="1100" dirty="0">
                <a:latin typeface="BIZ UDPゴシック" panose="020B0400000000000000" pitchFamily="50" charset="-128"/>
                <a:ea typeface="BIZ UDPゴシック" panose="020B0400000000000000" pitchFamily="50" charset="-128"/>
              </a:rPr>
              <a:t>GitHub</a:t>
            </a:r>
            <a:r>
              <a:rPr lang="ja-JP" altLang="en-US" sz="1100" dirty="0">
                <a:latin typeface="BIZ UDPゴシック" panose="020B0400000000000000" pitchFamily="50" charset="-128"/>
                <a:ea typeface="BIZ UDPゴシック" panose="020B0400000000000000" pitchFamily="50" charset="-128"/>
              </a:rPr>
              <a:t>の役割今回、あなたが使っている</a:t>
            </a:r>
            <a:r>
              <a:rPr lang="en-US" altLang="ja-JP" sz="1100" dirty="0">
                <a:latin typeface="BIZ UDPゴシック" panose="020B0400000000000000" pitchFamily="50" charset="-128"/>
                <a:ea typeface="BIZ UDPゴシック" panose="020B0400000000000000" pitchFamily="50" charset="-128"/>
              </a:rPr>
              <a:t>GitHub</a:t>
            </a:r>
            <a:r>
              <a:rPr lang="ja-JP" altLang="en-US" sz="1100" dirty="0">
                <a:latin typeface="BIZ UDPゴシック" panose="020B0400000000000000" pitchFamily="50" charset="-128"/>
                <a:ea typeface="BIZ UDPゴシック" panose="020B0400000000000000" pitchFamily="50" charset="-128"/>
              </a:rPr>
              <a:t>は、いわば「水稲生育予測アプリの設計図（コード）を安全に保管しておく専用の金庫兼、自動ビルド工場」のような場所です。コードの保管庫あなたが書いた </a:t>
            </a:r>
            <a:r>
              <a:rPr lang="en-US" altLang="ja-JP" sz="1100" dirty="0">
                <a:latin typeface="BIZ UDPゴシック" panose="020B0400000000000000" pitchFamily="50" charset="-128"/>
                <a:ea typeface="BIZ UDPゴシック" panose="020B0400000000000000" pitchFamily="50" charset="-128"/>
              </a:rPr>
              <a:t>app.py </a:t>
            </a:r>
            <a:r>
              <a:rPr lang="ja-JP" altLang="en-US" sz="1100" dirty="0">
                <a:latin typeface="BIZ UDPゴシック" panose="020B0400000000000000" pitchFamily="50" charset="-128"/>
                <a:ea typeface="BIZ UDPゴシック" panose="020B0400000000000000" pitchFamily="50" charset="-128"/>
              </a:rPr>
              <a:t>などのプログラムや設定ファイル（</a:t>
            </a:r>
            <a:r>
              <a:rPr lang="en-US" altLang="ja-JP" sz="1100" dirty="0">
                <a:latin typeface="BIZ UDPゴシック" panose="020B0400000000000000" pitchFamily="50" charset="-128"/>
                <a:ea typeface="BIZ UDPゴシック" panose="020B0400000000000000" pitchFamily="50" charset="-128"/>
              </a:rPr>
              <a:t>requirements.txt</a:t>
            </a:r>
            <a:r>
              <a:rPr lang="ja-JP" altLang="en-US" sz="1100" dirty="0">
                <a:latin typeface="BIZ UDPゴシック" panose="020B0400000000000000" pitchFamily="50" charset="-128"/>
                <a:ea typeface="BIZ UDPゴシック" panose="020B0400000000000000" pitchFamily="50" charset="-128"/>
              </a:rPr>
              <a:t>）をインターネット上に安全に保存してくれています。</a:t>
            </a:r>
            <a:r>
              <a:rPr lang="en-US" altLang="ja-JP" sz="1100" dirty="0" err="1">
                <a:latin typeface="BIZ UDPゴシック" panose="020B0400000000000000" pitchFamily="50" charset="-128"/>
                <a:ea typeface="BIZ UDPゴシック" panose="020B0400000000000000" pitchFamily="50" charset="-128"/>
              </a:rPr>
              <a:t>Streamlit</a:t>
            </a:r>
            <a:r>
              <a:rPr lang="en-US" altLang="ja-JP" sz="1100" dirty="0">
                <a:latin typeface="BIZ UDPゴシック" panose="020B0400000000000000" pitchFamily="50" charset="-128"/>
                <a:ea typeface="BIZ UDPゴシック" panose="020B0400000000000000" pitchFamily="50" charset="-128"/>
              </a:rPr>
              <a:t> Cloud</a:t>
            </a:r>
            <a:r>
              <a:rPr lang="ja-JP" altLang="en-US" sz="1100" dirty="0">
                <a:latin typeface="BIZ UDPゴシック" panose="020B0400000000000000" pitchFamily="50" charset="-128"/>
                <a:ea typeface="BIZ UDPゴシック" panose="020B0400000000000000" pitchFamily="50" charset="-128"/>
              </a:rPr>
              <a:t>との連携基盤スマホなどで動いている</a:t>
            </a:r>
            <a:r>
              <a:rPr lang="en-US" altLang="ja-JP" sz="1100" dirty="0">
                <a:latin typeface="BIZ UDPゴシック" panose="020B0400000000000000" pitchFamily="50" charset="-128"/>
                <a:ea typeface="BIZ UDPゴシック" panose="020B0400000000000000" pitchFamily="50" charset="-128"/>
              </a:rPr>
              <a:t>Web</a:t>
            </a:r>
            <a:r>
              <a:rPr lang="ja-JP" altLang="en-US" sz="1100" dirty="0">
                <a:latin typeface="BIZ UDPゴシック" panose="020B0400000000000000" pitchFamily="50" charset="-128"/>
                <a:ea typeface="BIZ UDPゴシック" panose="020B0400000000000000" pitchFamily="50" charset="-128"/>
              </a:rPr>
              <a:t>アプリ（</a:t>
            </a:r>
            <a:r>
              <a:rPr lang="en-US" altLang="ja-JP" sz="1100" dirty="0" err="1">
                <a:latin typeface="BIZ UDPゴシック" panose="020B0400000000000000" pitchFamily="50" charset="-128"/>
                <a:ea typeface="BIZ UDPゴシック" panose="020B0400000000000000" pitchFamily="50" charset="-128"/>
              </a:rPr>
              <a:t>Streamlit</a:t>
            </a:r>
            <a:r>
              <a:rPr lang="en-US" altLang="ja-JP" sz="1100" dirty="0">
                <a:latin typeface="BIZ UDPゴシック" panose="020B0400000000000000" pitchFamily="50" charset="-128"/>
                <a:ea typeface="BIZ UDPゴシック" panose="020B0400000000000000" pitchFamily="50" charset="-128"/>
              </a:rPr>
              <a:t> Cloud</a:t>
            </a:r>
            <a:r>
              <a:rPr lang="ja-JP" altLang="en-US" sz="1100" dirty="0">
                <a:latin typeface="BIZ UDPゴシック" panose="020B0400000000000000" pitchFamily="50" charset="-128"/>
                <a:ea typeface="BIZ UDPゴシック" panose="020B0400000000000000" pitchFamily="50" charset="-128"/>
              </a:rPr>
              <a:t>）は、この</a:t>
            </a:r>
            <a:r>
              <a:rPr lang="en-US" altLang="ja-JP" sz="1100" dirty="0">
                <a:latin typeface="BIZ UDPゴシック" panose="020B0400000000000000" pitchFamily="50" charset="-128"/>
                <a:ea typeface="BIZ UDPゴシック" panose="020B0400000000000000" pitchFamily="50" charset="-128"/>
              </a:rPr>
              <a:t>GitHub</a:t>
            </a:r>
            <a:r>
              <a:rPr lang="ja-JP" altLang="en-US" sz="1100" dirty="0">
                <a:latin typeface="BIZ UDPゴシック" panose="020B0400000000000000" pitchFamily="50" charset="-128"/>
                <a:ea typeface="BIZ UDPゴシック" panose="020B0400000000000000" pitchFamily="50" charset="-128"/>
              </a:rPr>
              <a:t>の中にある最新のコードを自動的に読み込んで動いています。そのため、</a:t>
            </a:r>
            <a:r>
              <a:rPr lang="en-US" altLang="ja-JP" sz="1100" dirty="0">
                <a:latin typeface="BIZ UDPゴシック" panose="020B0400000000000000" pitchFamily="50" charset="-128"/>
                <a:ea typeface="BIZ UDPゴシック" panose="020B0400000000000000" pitchFamily="50" charset="-128"/>
              </a:rPr>
              <a:t>GitHub</a:t>
            </a:r>
            <a:r>
              <a:rPr lang="ja-JP" altLang="en-US" sz="1100" dirty="0">
                <a:latin typeface="BIZ UDPゴシック" panose="020B0400000000000000" pitchFamily="50" charset="-128"/>
                <a:ea typeface="BIZ UDPゴシック" panose="020B0400000000000000" pitchFamily="50" charset="-128"/>
              </a:rPr>
              <a:t>上のコードを書き換えたり非公開にしたりすると、アプリ側にもその設定が反映されます。個人から巨大な</a:t>
            </a:r>
            <a:r>
              <a:rPr lang="en-US" altLang="ja-JP" sz="1100" dirty="0">
                <a:latin typeface="BIZ UDPゴシック" panose="020B0400000000000000" pitchFamily="50" charset="-128"/>
                <a:ea typeface="BIZ UDPゴシック" panose="020B0400000000000000" pitchFamily="50" charset="-128"/>
              </a:rPr>
              <a:t>IT</a:t>
            </a:r>
            <a:r>
              <a:rPr lang="ja-JP" altLang="en-US" sz="1100" dirty="0">
                <a:latin typeface="BIZ UDPゴシック" panose="020B0400000000000000" pitchFamily="50" charset="-128"/>
                <a:ea typeface="BIZ UDPゴシック" panose="020B0400000000000000" pitchFamily="50" charset="-128"/>
              </a:rPr>
              <a:t>企業まで、安全にプログラムを管理するための世界標準の仕組みとして広く使われているサービスです！</a:t>
            </a:r>
          </a:p>
        </p:txBody>
      </p:sp>
      <p:pic>
        <p:nvPicPr>
          <p:cNvPr id="7" name="図 6">
            <a:extLst>
              <a:ext uri="{FF2B5EF4-FFF2-40B4-BE49-F238E27FC236}">
                <a16:creationId xmlns:a16="http://schemas.microsoft.com/office/drawing/2014/main" id="{1E15F69E-45AA-C1B5-1BFB-0C932E8495FF}"/>
              </a:ext>
            </a:extLst>
          </p:cNvPr>
          <p:cNvPicPr>
            <a:picLocks noChangeAspect="1"/>
          </p:cNvPicPr>
          <p:nvPr/>
        </p:nvPicPr>
        <p:blipFill>
          <a:blip r:embed="rId2"/>
          <a:stretch>
            <a:fillRect/>
          </a:stretch>
        </p:blipFill>
        <p:spPr>
          <a:xfrm>
            <a:off x="1096737" y="369239"/>
            <a:ext cx="4452256" cy="2998356"/>
          </a:xfrm>
          <a:prstGeom prst="rect">
            <a:avLst/>
          </a:prstGeom>
        </p:spPr>
      </p:pic>
      <p:sp>
        <p:nvSpPr>
          <p:cNvPr id="9" name="テキスト ボックス 8">
            <a:extLst>
              <a:ext uri="{FF2B5EF4-FFF2-40B4-BE49-F238E27FC236}">
                <a16:creationId xmlns:a16="http://schemas.microsoft.com/office/drawing/2014/main" id="{773815F9-B658-8207-50AB-CEED6F3E9421}"/>
              </a:ext>
            </a:extLst>
          </p:cNvPr>
          <p:cNvSpPr txBox="1"/>
          <p:nvPr/>
        </p:nvSpPr>
        <p:spPr>
          <a:xfrm>
            <a:off x="6667500" y="828438"/>
            <a:ext cx="9105900" cy="5078313"/>
          </a:xfrm>
          <a:prstGeom prst="rect">
            <a:avLst/>
          </a:prstGeom>
          <a:noFill/>
        </p:spPr>
        <p:txBody>
          <a:bodyPr wrap="square">
            <a:spAutoFit/>
          </a:bodyPr>
          <a:lstStyle/>
          <a:p>
            <a:r>
              <a:rPr lang="en-US" altLang="ja-JP" dirty="0"/>
              <a:t>[ </a:t>
            </a:r>
            <a:r>
              <a:rPr lang="ja-JP" altLang="en-US" dirty="0"/>
              <a:t>ユーザー（スマホ </a:t>
            </a:r>
            <a:r>
              <a:rPr lang="en-US" altLang="ja-JP" dirty="0"/>
              <a:t>/ PC</a:t>
            </a:r>
            <a:r>
              <a:rPr lang="ja-JP" altLang="en-US" dirty="0"/>
              <a:t>） </a:t>
            </a:r>
            <a:r>
              <a:rPr lang="en-US" altLang="ja-JP" dirty="0"/>
              <a:t>]</a:t>
            </a:r>
          </a:p>
          <a:p>
            <a:r>
              <a:rPr lang="en-US" altLang="ja-JP" dirty="0"/>
              <a:t>       │</a:t>
            </a:r>
          </a:p>
          <a:p>
            <a:r>
              <a:rPr lang="en-US" altLang="ja-JP" dirty="0"/>
              <a:t>       ├─ 1. </a:t>
            </a:r>
            <a:r>
              <a:rPr lang="ja-JP" altLang="en-US" dirty="0"/>
              <a:t>ブラウザから</a:t>
            </a:r>
            <a:r>
              <a:rPr lang="en-US" altLang="ja-JP" dirty="0"/>
              <a:t>GPS</a:t>
            </a:r>
            <a:r>
              <a:rPr lang="ja-JP" altLang="en-US" dirty="0"/>
              <a:t>位置情報を取得 </a:t>
            </a:r>
            <a:r>
              <a:rPr lang="en-US" altLang="ja-JP" dirty="0"/>
              <a:t>(</a:t>
            </a:r>
            <a:r>
              <a:rPr lang="en-US" altLang="ja-JP" dirty="0" err="1"/>
              <a:t>streamlit</a:t>
            </a:r>
            <a:r>
              <a:rPr lang="en-US" altLang="ja-JP" dirty="0"/>
              <a:t>-</a:t>
            </a:r>
            <a:r>
              <a:rPr lang="en-US" altLang="ja-JP" dirty="0" err="1"/>
              <a:t>js</a:t>
            </a:r>
            <a:r>
              <a:rPr lang="en-US" altLang="ja-JP" dirty="0"/>
              <a:t>-eval)</a:t>
            </a:r>
          </a:p>
          <a:p>
            <a:r>
              <a:rPr lang="en-US" altLang="ja-JP" dirty="0"/>
              <a:t>       ├─ 2. </a:t>
            </a:r>
            <a:r>
              <a:rPr lang="ja-JP" altLang="en-US" dirty="0"/>
              <a:t>地図の表示・タップ操作 </a:t>
            </a:r>
            <a:r>
              <a:rPr lang="en-US" altLang="ja-JP" dirty="0"/>
              <a:t>(Leaflet / folium)</a:t>
            </a:r>
          </a:p>
          <a:p>
            <a:r>
              <a:rPr lang="en-US" altLang="ja-JP" dirty="0"/>
              <a:t>       │</a:t>
            </a:r>
          </a:p>
          <a:p>
            <a:r>
              <a:rPr lang="en-US" altLang="ja-JP" dirty="0"/>
              <a:t>       ▼</a:t>
            </a:r>
          </a:p>
          <a:p>
            <a:r>
              <a:rPr lang="en-US" altLang="ja-JP" dirty="0"/>
              <a:t>[ </a:t>
            </a:r>
            <a:r>
              <a:rPr lang="en-US" altLang="ja-JP" dirty="0" err="1"/>
              <a:t>Streamlit</a:t>
            </a:r>
            <a:r>
              <a:rPr lang="en-US" altLang="ja-JP" dirty="0"/>
              <a:t> Cloud </a:t>
            </a:r>
            <a:r>
              <a:rPr lang="ja-JP" altLang="en-US" dirty="0"/>
              <a:t>（</a:t>
            </a:r>
            <a:r>
              <a:rPr lang="en-US" altLang="ja-JP" dirty="0"/>
              <a:t>Web</a:t>
            </a:r>
            <a:r>
              <a:rPr lang="ja-JP" altLang="en-US" dirty="0"/>
              <a:t>アプリ実行環境） </a:t>
            </a:r>
            <a:r>
              <a:rPr lang="en-US" altLang="ja-JP" dirty="0"/>
              <a:t>]</a:t>
            </a:r>
          </a:p>
          <a:p>
            <a:r>
              <a:rPr lang="en-US" altLang="ja-JP" dirty="0"/>
              <a:t>       │</a:t>
            </a:r>
          </a:p>
          <a:p>
            <a:r>
              <a:rPr lang="en-US" altLang="ja-JP" dirty="0"/>
              <a:t>       ├─ </a:t>
            </a:r>
            <a:r>
              <a:rPr lang="ja-JP" altLang="en-US" dirty="0"/>
              <a:t>アプリの頭脳（</a:t>
            </a:r>
            <a:r>
              <a:rPr lang="en-US" altLang="ja-JP" dirty="0"/>
              <a:t>app.py </a:t>
            </a:r>
            <a:r>
              <a:rPr lang="ja-JP" altLang="en-US" dirty="0"/>
              <a:t>などのプログラム）</a:t>
            </a:r>
          </a:p>
          <a:p>
            <a:r>
              <a:rPr lang="ja-JP" altLang="en-US" dirty="0"/>
              <a:t>       │    ├─ 品種ごとの</a:t>
            </a:r>
            <a:r>
              <a:rPr lang="en-US" altLang="ja-JP" dirty="0"/>
              <a:t>GDD</a:t>
            </a:r>
            <a:r>
              <a:rPr lang="ja-JP" altLang="en-US" dirty="0"/>
              <a:t>（積算温度）計算ロジック</a:t>
            </a:r>
          </a:p>
          <a:p>
            <a:r>
              <a:rPr lang="ja-JP" altLang="en-US" dirty="0"/>
              <a:t>       │    └─ 住所検索機能 </a:t>
            </a:r>
            <a:r>
              <a:rPr lang="en-US" altLang="ja-JP" dirty="0"/>
              <a:t>(</a:t>
            </a:r>
            <a:r>
              <a:rPr lang="en-US" altLang="ja-JP" dirty="0" err="1"/>
              <a:t>geopy</a:t>
            </a:r>
            <a:r>
              <a:rPr lang="en-US" altLang="ja-JP" dirty="0"/>
              <a:t> / </a:t>
            </a:r>
            <a:r>
              <a:rPr lang="en-US" altLang="ja-JP" dirty="0" err="1"/>
              <a:t>Nominatim</a:t>
            </a:r>
            <a:r>
              <a:rPr lang="en-US" altLang="ja-JP" dirty="0"/>
              <a:t>)</a:t>
            </a:r>
          </a:p>
          <a:p>
            <a:r>
              <a:rPr lang="en-US" altLang="ja-JP" dirty="0"/>
              <a:t>       │</a:t>
            </a:r>
          </a:p>
          <a:p>
            <a:r>
              <a:rPr lang="en-US" altLang="ja-JP" dirty="0"/>
              <a:t>       ├─▶ 【</a:t>
            </a:r>
            <a:r>
              <a:rPr lang="ja-JP" altLang="en-US" dirty="0"/>
              <a:t>外部データ連携</a:t>
            </a:r>
            <a:r>
              <a:rPr lang="en-US" altLang="ja-JP" dirty="0"/>
              <a:t>】</a:t>
            </a:r>
          </a:p>
          <a:p>
            <a:r>
              <a:rPr lang="en-US" altLang="ja-JP" dirty="0"/>
              <a:t>       │     Google Cloud</a:t>
            </a:r>
            <a:r>
              <a:rPr lang="ja-JP" altLang="en-US" dirty="0"/>
              <a:t>上の気象データ配信用プロキシ </a:t>
            </a:r>
            <a:r>
              <a:rPr lang="en-US" altLang="ja-JP" dirty="0"/>
              <a:t>(PROXY_URL) </a:t>
            </a:r>
            <a:r>
              <a:rPr lang="ja-JP" altLang="en-US" dirty="0"/>
              <a:t>から</a:t>
            </a:r>
          </a:p>
          <a:p>
            <a:r>
              <a:rPr lang="ja-JP" altLang="en-US" dirty="0"/>
              <a:t>       │     指定された緯度・経度のリアルタイム気温データを自動取得</a:t>
            </a:r>
          </a:p>
          <a:p>
            <a:r>
              <a:rPr lang="ja-JP" altLang="en-US" dirty="0"/>
              <a:t>       │</a:t>
            </a:r>
          </a:p>
          <a:p>
            <a:r>
              <a:rPr lang="ja-JP" altLang="en-US" dirty="0"/>
              <a:t>       └─▶ </a:t>
            </a:r>
            <a:r>
              <a:rPr lang="en-US" altLang="ja-JP" dirty="0"/>
              <a:t>【</a:t>
            </a:r>
            <a:r>
              <a:rPr lang="ja-JP" altLang="en-US" dirty="0"/>
              <a:t>ソースコード管理</a:t>
            </a:r>
            <a:r>
              <a:rPr lang="en-US" altLang="ja-JP" dirty="0"/>
              <a:t>】</a:t>
            </a:r>
          </a:p>
          <a:p>
            <a:r>
              <a:rPr lang="en-US" altLang="ja-JP" dirty="0"/>
              <a:t>             GitHub </a:t>
            </a:r>
            <a:r>
              <a:rPr lang="ja-JP" altLang="en-US" dirty="0"/>
              <a:t>（非公開のリポジトリで安全にコードをバージョン管理）</a:t>
            </a:r>
          </a:p>
        </p:txBody>
      </p:sp>
    </p:spTree>
    <p:extLst>
      <p:ext uri="{BB962C8B-B14F-4D97-AF65-F5344CB8AC3E}">
        <p14:creationId xmlns:p14="http://schemas.microsoft.com/office/powerpoint/2010/main" val="25819641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619DE038-2DC5-B860-B039-E5F335341BC0}"/>
              </a:ext>
            </a:extLst>
          </p:cNvPr>
          <p:cNvSpPr txBox="1"/>
          <p:nvPr/>
        </p:nvSpPr>
        <p:spPr>
          <a:xfrm>
            <a:off x="498021" y="698091"/>
            <a:ext cx="5861957" cy="5355312"/>
          </a:xfrm>
          <a:prstGeom prst="rect">
            <a:avLst/>
          </a:prstGeom>
          <a:noFill/>
        </p:spPr>
        <p:txBody>
          <a:bodyPr wrap="square">
            <a:spAutoFit/>
          </a:bodyPr>
          <a:lstStyle/>
          <a:p>
            <a:r>
              <a:rPr lang="en-US" altLang="ja-JP" dirty="0"/>
              <a:t>GitHub</a:t>
            </a:r>
            <a:r>
              <a:rPr lang="ja-JP" altLang="en-US" dirty="0"/>
              <a:t>（保存場所）</a:t>
            </a:r>
            <a:r>
              <a:rPr lang="en-US" altLang="ja-JP" dirty="0"/>
              <a:t>:</a:t>
            </a:r>
            <a:r>
              <a:rPr lang="ja-JP" altLang="en-US" dirty="0"/>
              <a:t>アプリを動かすためのメインのプログラム（画面の見た目や地図、予測計算のロジックが書かれた </a:t>
            </a:r>
            <a:r>
              <a:rPr lang="en-US" altLang="ja-JP" dirty="0"/>
              <a:t>app.py </a:t>
            </a:r>
            <a:r>
              <a:rPr lang="ja-JP" altLang="en-US" dirty="0"/>
              <a:t>など）が保存されています。</a:t>
            </a:r>
            <a:endParaRPr lang="en-US" altLang="ja-JP" dirty="0"/>
          </a:p>
          <a:p>
            <a:endParaRPr lang="en-US" altLang="ja-JP" dirty="0"/>
          </a:p>
          <a:p>
            <a:r>
              <a:rPr lang="en-US" altLang="ja-JP" dirty="0"/>
              <a:t>Google Cloud</a:t>
            </a:r>
            <a:r>
              <a:rPr lang="ja-JP" altLang="en-US" dirty="0"/>
              <a:t>（データ・</a:t>
            </a:r>
            <a:r>
              <a:rPr lang="en-US" altLang="ja-JP" dirty="0"/>
              <a:t>API</a:t>
            </a:r>
            <a:r>
              <a:rPr lang="ja-JP" altLang="en-US" dirty="0"/>
              <a:t>側）</a:t>
            </a:r>
            <a:r>
              <a:rPr lang="en-US" altLang="ja-JP" dirty="0"/>
              <a:t>:</a:t>
            </a:r>
            <a:r>
              <a:rPr lang="ja-JP" altLang="en-US" dirty="0"/>
              <a:t>気象データ（気温など）を配信しているサーバー（プロキシ）が</a:t>
            </a:r>
            <a:r>
              <a:rPr lang="en-US" altLang="ja-JP" dirty="0"/>
              <a:t>Google Cloud</a:t>
            </a:r>
            <a:r>
              <a:rPr lang="ja-JP" altLang="en-US" dirty="0"/>
              <a:t>上で動いています。</a:t>
            </a:r>
            <a:r>
              <a:rPr lang="en-US" altLang="ja-JP" dirty="0"/>
              <a:t>※</a:t>
            </a:r>
            <a:r>
              <a:rPr lang="ja-JP" altLang="en-US" dirty="0"/>
              <a:t>もし認証情報（</a:t>
            </a:r>
            <a:r>
              <a:rPr lang="en-US" altLang="ja-JP" dirty="0"/>
              <a:t>ID</a:t>
            </a:r>
            <a:r>
              <a:rPr lang="ja-JP" altLang="en-US" dirty="0"/>
              <a:t>・パスワード等）がある場合でも、それらは通常</a:t>
            </a:r>
            <a:r>
              <a:rPr lang="en-US" altLang="ja-JP" dirty="0"/>
              <a:t>GitHub</a:t>
            </a:r>
            <a:r>
              <a:rPr lang="ja-JP" altLang="en-US" dirty="0"/>
              <a:t>のコード内には直接書かず、</a:t>
            </a:r>
            <a:r>
              <a:rPr lang="en-US" altLang="ja-JP" dirty="0" err="1"/>
              <a:t>Streamlit</a:t>
            </a:r>
            <a:r>
              <a:rPr lang="en-US" altLang="ja-JP" dirty="0"/>
              <a:t> Cloud</a:t>
            </a:r>
            <a:r>
              <a:rPr lang="ja-JP" altLang="en-US" dirty="0"/>
              <a:t>の「</a:t>
            </a:r>
            <a:r>
              <a:rPr lang="en-US" altLang="ja-JP" dirty="0"/>
              <a:t>Secrets</a:t>
            </a:r>
            <a:r>
              <a:rPr lang="ja-JP" altLang="en-US" dirty="0"/>
              <a:t>（秘密情報設定機能）」などの安全な場所に隠して管理されています。</a:t>
            </a:r>
            <a:endParaRPr lang="en-US" altLang="ja-JP" dirty="0"/>
          </a:p>
          <a:p>
            <a:endParaRPr lang="en-US" altLang="ja-JP" dirty="0"/>
          </a:p>
          <a:p>
            <a:r>
              <a:rPr lang="ja-JP" altLang="en-US" dirty="0"/>
              <a:t>ユーザーの動き（実行の流れ）</a:t>
            </a:r>
            <a:r>
              <a:rPr lang="en-US" altLang="ja-JP" dirty="0"/>
              <a:t>:</a:t>
            </a:r>
            <a:r>
              <a:rPr lang="ja-JP" altLang="en-US" dirty="0"/>
              <a:t>ユーザーは、</a:t>
            </a:r>
            <a:r>
              <a:rPr lang="en-US" altLang="ja-JP" dirty="0"/>
              <a:t>GitHub</a:t>
            </a:r>
            <a:r>
              <a:rPr lang="ja-JP" altLang="en-US" dirty="0"/>
              <a:t>に直接アクセスするのではなく、</a:t>
            </a:r>
            <a:r>
              <a:rPr lang="en-US" altLang="ja-JP" dirty="0" err="1"/>
              <a:t>Streamlit</a:t>
            </a:r>
            <a:r>
              <a:rPr lang="en-US" altLang="ja-JP" dirty="0"/>
              <a:t> Cloud</a:t>
            </a:r>
            <a:r>
              <a:rPr lang="ja-JP" altLang="en-US" dirty="0"/>
              <a:t>という公開・実行基盤を通じてインターネット経由で</a:t>
            </a:r>
            <a:r>
              <a:rPr lang="en-US" altLang="ja-JP" dirty="0"/>
              <a:t>Web</a:t>
            </a:r>
            <a:r>
              <a:rPr lang="ja-JP" altLang="en-US" dirty="0"/>
              <a:t>アプリの画面（</a:t>
            </a:r>
            <a:r>
              <a:rPr lang="en-US" altLang="ja-JP" dirty="0"/>
              <a:t>URL</a:t>
            </a:r>
            <a:r>
              <a:rPr lang="ja-JP" altLang="en-US" dirty="0"/>
              <a:t>）にアクセスします。アプリ画面で操作を行うと、裏側で</a:t>
            </a:r>
            <a:r>
              <a:rPr lang="en-US" altLang="ja-JP" dirty="0"/>
              <a:t>GitHub</a:t>
            </a:r>
            <a:r>
              <a:rPr lang="ja-JP" altLang="en-US" dirty="0"/>
              <a:t>のプログラムが動き、</a:t>
            </a:r>
            <a:r>
              <a:rPr lang="en-US" altLang="ja-JP" dirty="0"/>
              <a:t>Google Cloud</a:t>
            </a:r>
            <a:r>
              <a:rPr lang="ja-JP" altLang="en-US" dirty="0"/>
              <a:t>上の気象データを取りに行って計算結果を画面に表示する、という仕組みになっています。</a:t>
            </a:r>
          </a:p>
        </p:txBody>
      </p:sp>
      <p:pic>
        <p:nvPicPr>
          <p:cNvPr id="7" name="図 6">
            <a:extLst>
              <a:ext uri="{FF2B5EF4-FFF2-40B4-BE49-F238E27FC236}">
                <a16:creationId xmlns:a16="http://schemas.microsoft.com/office/drawing/2014/main" id="{2C076A54-4D46-25E4-97C5-6AEB2E329E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9781" y="6245613"/>
            <a:ext cx="2285714" cy="2285714"/>
          </a:xfrm>
          <a:prstGeom prst="rect">
            <a:avLst/>
          </a:prstGeom>
        </p:spPr>
      </p:pic>
      <p:sp>
        <p:nvSpPr>
          <p:cNvPr id="8" name="テキスト ボックス 7">
            <a:extLst>
              <a:ext uri="{FF2B5EF4-FFF2-40B4-BE49-F238E27FC236}">
                <a16:creationId xmlns:a16="http://schemas.microsoft.com/office/drawing/2014/main" id="{57899489-B15A-830F-F606-4BD59DA5B58C}"/>
              </a:ext>
            </a:extLst>
          </p:cNvPr>
          <p:cNvSpPr txBox="1"/>
          <p:nvPr/>
        </p:nvSpPr>
        <p:spPr>
          <a:xfrm>
            <a:off x="2089781" y="8392827"/>
            <a:ext cx="2302233" cy="276999"/>
          </a:xfrm>
          <a:prstGeom prst="rect">
            <a:avLst/>
          </a:prstGeom>
          <a:noFill/>
        </p:spPr>
        <p:txBody>
          <a:bodyPr wrap="none" rtlCol="0">
            <a:spAutoFit/>
          </a:bodyPr>
          <a:lstStyle/>
          <a:p>
            <a:r>
              <a:rPr kumimoji="1" lang="ja-JP" altLang="en-US" sz="1200" dirty="0">
                <a:latin typeface="BIZ UDPゴシック" panose="020B0400000000000000" pitchFamily="50" charset="-128"/>
                <a:ea typeface="BIZ UDPゴシック" panose="020B0400000000000000" pitchFamily="50" charset="-128"/>
              </a:rPr>
              <a:t>水稲生育シミュレーションアプリ</a:t>
            </a:r>
          </a:p>
        </p:txBody>
      </p:sp>
    </p:spTree>
    <p:extLst>
      <p:ext uri="{BB962C8B-B14F-4D97-AF65-F5344CB8AC3E}">
        <p14:creationId xmlns:p14="http://schemas.microsoft.com/office/powerpoint/2010/main" val="1325142861"/>
      </p:ext>
    </p:extLst>
  </p:cSld>
  <p:clrMapOvr>
    <a:masterClrMapping/>
  </p:clrMapOvr>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103</TotalTime>
  <Words>896</Words>
  <Application>Microsoft Office PowerPoint</Application>
  <PresentationFormat>画面に合わせる (4:3)</PresentationFormat>
  <Paragraphs>34</Paragraphs>
  <Slides>3</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3</vt:i4>
      </vt:variant>
    </vt:vector>
  </HeadingPairs>
  <TitlesOfParts>
    <vt:vector size="8" baseType="lpstr">
      <vt:lpstr>BIZ UDPゴシック</vt:lpstr>
      <vt:lpstr>Arial</vt:lpstr>
      <vt:lpstr>Calibri</vt:lpstr>
      <vt:lpstr>Calibri Light</vt:lpstr>
      <vt:lpstr>Office テーマ</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USHI RO</dc:creator>
  <cp:lastModifiedBy>USHI RO</cp:lastModifiedBy>
  <cp:revision>7</cp:revision>
  <dcterms:created xsi:type="dcterms:W3CDTF">2026-07-25T20:42:30Z</dcterms:created>
  <dcterms:modified xsi:type="dcterms:W3CDTF">2026-07-28T00:56:38Z</dcterms:modified>
</cp:coreProperties>
</file>